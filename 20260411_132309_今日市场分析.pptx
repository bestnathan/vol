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1" name="TextBox 1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4400" dirty="0" err="0" b="0">
                <a:solidFill>
                  <a:srgbClr val="1E3A5F"/>
                </a:solidFill>
              </a:rPr>
              <a:t>今日市场分析与洞察</a:t>
            </a:r>
            <a:endParaRPr lang="en-US" sz="44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2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err="0" b="0">
                <a:solidFill>
                  <a:srgbClr val="333333"/>
                </a:solidFill>
              </a:rPr>
              <a:t>Generated by PPT Agent</a:t>
            </a:r>
            <a:endParaRPr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200" dirty="0" err="0" b="0">
                <a:solidFill>
                  <a:srgbClr val="1E3A5F"/>
                </a:solidFill>
              </a:rPr>
              <a:t>目录</a:t>
            </a:r>
            <a:endParaRPr lang="en-US" sz="32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Box 4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err="0" b="0">
                <a:solidFill>
                  <a:srgbClr val="000000"/>
                </a:solidFill>
              </a:rPr>
              <a:t>1. 市场概览</a:t>
            </a:r>
            <a:endParaRPr lang="en-US" sz="1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5" name="TextBox 5"/>
          <p:cNvSpPr txBox="1"/>
          <p:nvPr/>
        </p:nvSpPr>
        <p:spPr>
          <a:xfrm>
            <a:off x="685800" y="192024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err="0" b="0">
                <a:solidFill>
                  <a:srgbClr val="000000"/>
                </a:solidFill>
              </a:rPr>
              <a:t>2. 宏观经济驱动</a:t>
            </a:r>
            <a:endParaRPr lang="en-US" sz="1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6" name="TextBox 6"/>
          <p:cNvSpPr txBox="1"/>
          <p:nvPr/>
        </p:nvSpPr>
        <p:spPr>
          <a:xfrm>
            <a:off x="685800" y="246888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err="0" b="0">
                <a:solidFill>
                  <a:srgbClr val="000000"/>
                </a:solidFill>
              </a:rPr>
              <a:t>3. 行业板块表现</a:t>
            </a:r>
            <a:endParaRPr lang="en-US" sz="1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7" name="TextBox 7"/>
          <p:cNvSpPr txBox="1"/>
          <p:nvPr/>
        </p:nvSpPr>
        <p:spPr>
          <a:xfrm>
            <a:off x="685800" y="301752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err="0" b="0">
                <a:solidFill>
                  <a:srgbClr val="000000"/>
                </a:solidFill>
              </a:rPr>
              <a:t>4. 关键新闻事件</a:t>
            </a:r>
            <a:endParaRPr lang="en-US" sz="1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8" name="TextBox 8"/>
          <p:cNvSpPr txBox="1"/>
          <p:nvPr/>
        </p:nvSpPr>
        <p:spPr>
          <a:xfrm>
            <a:off x="685800" y="356616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err="0" b="0">
                <a:solidFill>
                  <a:srgbClr val="000000"/>
                </a:solidFill>
              </a:rPr>
              <a:t>5. 技术指标分析</a:t>
            </a:r>
            <a:endParaRPr lang="en-US" sz="1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9" name="TextBox 9"/>
          <p:cNvSpPr txBox="1"/>
          <p:nvPr/>
        </p:nvSpPr>
        <p:spPr>
          <a:xfrm>
            <a:off x="685800" y="4114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err="0" b="0">
                <a:solidFill>
                  <a:srgbClr val="000000"/>
                </a:solidFill>
              </a:rPr>
              <a:t>6. 资金流向监测</a:t>
            </a:r>
            <a:endParaRPr lang="en-US" sz="1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10" name="TextBox 10"/>
          <p:cNvSpPr txBox="1"/>
          <p:nvPr/>
        </p:nvSpPr>
        <p:spPr>
          <a:xfrm>
            <a:off x="685800" y="466344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err="0" b="0">
                <a:solidFill>
                  <a:srgbClr val="000000"/>
                </a:solidFill>
              </a:rPr>
              <a:t>7. 风险提示</a:t>
            </a:r>
            <a:endParaRPr lang="en-US" sz="1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11" name="TextBox 11"/>
          <p:cNvSpPr txBox="1"/>
          <p:nvPr/>
        </p:nvSpPr>
        <p:spPr>
          <a:xfrm>
            <a:off x="685800" y="521208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err="0" b="0">
                <a:solidFill>
                  <a:srgbClr val="000000"/>
                </a:solidFill>
              </a:rPr>
              <a:t>8. 投资策略建议</a:t>
            </a:r>
            <a:endParaRPr lang="en-US" sz="1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12" name="TextBox 12"/>
          <p:cNvSpPr txBox="1"/>
          <p:nvPr/>
        </p:nvSpPr>
        <p:spPr>
          <a:xfrm>
            <a:off x="685800" y="576072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err="0" b="0">
                <a:solidFill>
                  <a:srgbClr val="000000"/>
                </a:solidFill>
              </a:rPr>
              <a:t>9. 总结与问答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13" name="TextBox 1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err="0" b="0">
                <a:solidFill>
                  <a:srgbClr val="1E3A5F"/>
                </a:solidFill>
              </a:rPr>
              <a:t>市场概览</a:t>
            </a:r>
            <a:endParaRPr lang="en-US" sz="2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14" name="TextBox 14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主要指数（上证、深证、恒生）涨跌幅度对比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15" name="TextBox 15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全市场成交量与昨日相比变化分析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16" name="TextBox 16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市场情绪指标（涨跌家数比）现状</a:t>
            </a:r>
            <a:endParaRPr 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17" name="TextBox 17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err="0" b="0">
                <a:solidFill>
                  <a:srgbClr val="1E3A5F"/>
                </a:solidFill>
              </a:rPr>
              <a:t>宏观经济驱动</a:t>
            </a:r>
            <a:endParaRPr lang="en-US" sz="2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18" name="TextBox 18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最新发布的宏观经济数据解读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19" name="TextBox 19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央行货币政策动向及利率预期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20" name="TextBox 20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通货膨胀率与就业数据对市场影响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1" name="TextBox 2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err="0" b="0">
                <a:solidFill>
                  <a:srgbClr val="1E3A5F"/>
                </a:solidFill>
              </a:rPr>
              <a:t>行业板块表现</a:t>
            </a:r>
            <a:endParaRPr lang="en-US" sz="2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22" name="TextBox 22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领涨行业板块及核心驱动因素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23" name="TextBox 23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落后行业板块表现及原因分析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24" name="TextBox 24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资金流向与板块轮动趋势观察</a:t>
            </a:r>
            <a:endParaRPr 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5" name="TextBox 25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err="0" b="0">
                <a:solidFill>
                  <a:srgbClr val="1E3A5F"/>
                </a:solidFill>
              </a:rPr>
              <a:t>关键新闻事件</a:t>
            </a:r>
            <a:endParaRPr lang="en-US" sz="2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26" name="TextBox 26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重点企业财报业绩摘要与市场反应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27" name="TextBox 27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重大并购重组或监管政策消息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28" name="TextBox 28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地缘政治事件对供应链的潜在影响</a:t>
            </a:r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9" name="TextBox 29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err="0" b="0">
                <a:solidFill>
                  <a:srgbClr val="1E3A5F"/>
                </a:solidFill>
              </a:rPr>
              <a:t>技术指标分析</a:t>
            </a:r>
            <a:endParaRPr lang="en-US" sz="2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0" name="TextBox 30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关键支撑位与阻力位技术分析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1" name="TextBox 31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移动平均线趋势及金叉死叉信号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2" name="TextBox 32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相对强弱指标 (RSI) 超买超卖状态</a:t>
            </a:r>
            <a:endParaRPr 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33" name="TextBox 3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err="0" b="0">
                <a:solidFill>
                  <a:srgbClr val="1E3A5F"/>
                </a:solidFill>
              </a:rPr>
              <a:t>资金流向监测</a:t>
            </a:r>
            <a:endParaRPr lang="en-US" sz="2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4" name="TextBox 34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北向资金净流入/流出具体情况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5" name="TextBox 35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主力资金动向及大单交易分析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6" name="TextBox 36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散户情绪指标与持仓变化监测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37" name="TextBox 37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err="0" b="0">
                <a:solidFill>
                  <a:srgbClr val="1E3A5F"/>
                </a:solidFill>
              </a:rPr>
              <a:t>风险提示</a:t>
            </a:r>
            <a:endParaRPr lang="en-US" sz="2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8" name="TextBox 38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市场波动率指数 (VIX) 走势预警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9" name="TextBox 39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流动性风险及杠杆资金压力分析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0" name="TextBox 40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外部不确定性因素及黑天鹅事件</a:t>
            </a:r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41" name="TextBox 4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err="0" b="0">
                <a:solidFill>
                  <a:srgbClr val="1E3A5F"/>
                </a:solidFill>
              </a:rPr>
              <a:t>投资策略建议</a:t>
            </a:r>
            <a:endParaRPr lang="en-US" sz="2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2" name="TextBox 42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短期交易机会与入场点位建议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3" name="TextBox 43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中长期资产配置比例调整策略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4" name="TextBox 44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对冲风险工具及衍生品推荐</a:t>
            </a:r>
            <a:endParaRPr 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45" name="TextBox 45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err="0" b="0">
                <a:solidFill>
                  <a:srgbClr val="1E3A5F"/>
                </a:solidFill>
              </a:rPr>
              <a:t>总结与问答</a:t>
            </a:r>
            <a:endParaRPr lang="en-US" sz="2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6" name="TextBox 46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今日市场核心观点回顾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7" name="TextBox 47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明日重点关注事件预告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8" name="TextBox 48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投资者问答与交流环节</a:t>
            </a:r>
            <a:endParaRPr 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