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1" name="TextBox 1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4400" dirty="0" err="0" b="0">
                <a:solidFill>
                  <a:srgbClr val="1E3A5F"/>
                </a:solidFill>
              </a:rPr>
              <a:t>Deribit 期权监控系统技术分享</a:t>
            </a:r>
            <a:endParaRPr lang="en-US" sz="44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2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err="0" b="0">
                <a:solidFill>
                  <a:srgbClr val="333333"/>
                </a:solidFill>
              </a:rPr>
              <a:t>Generated by PPT Agent</a:t>
            </a:r>
            <a:endParaRPr 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3200" dirty="0" err="0" b="0">
                <a:solidFill>
                  <a:srgbClr val="1E3A5F"/>
                </a:solidFill>
              </a:rPr>
              <a:t>目录</a:t>
            </a:r>
            <a:endParaRPr lang="en-US" sz="32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Box 4"/>
          <p:cNvSpPr txBox="1"/>
          <p:nvPr/>
        </p:nvSpPr>
        <p:spPr>
          <a:xfrm>
            <a:off x="685800" y="13716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800" dirty="0" err="0" b="0">
                <a:solidFill>
                  <a:srgbClr val="000000"/>
                </a:solidFill>
              </a:rPr>
              <a:t>1. 项目背景与目标</a:t>
            </a:r>
            <a:endParaRPr lang="en-US" sz="18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5" name="TextBox 5"/>
          <p:cNvSpPr txBox="1"/>
          <p:nvPr/>
        </p:nvSpPr>
        <p:spPr>
          <a:xfrm>
            <a:off x="685800" y="192024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800" dirty="0" err="0" b="0">
                <a:solidFill>
                  <a:srgbClr val="000000"/>
                </a:solidFill>
              </a:rPr>
              <a:t>2. 系统整体架构</a:t>
            </a:r>
            <a:endParaRPr lang="en-US" sz="18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6" name="TextBox 6"/>
          <p:cNvSpPr txBox="1"/>
          <p:nvPr/>
        </p:nvSpPr>
        <p:spPr>
          <a:xfrm>
            <a:off x="685800" y="246888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800" dirty="0" err="0" b="0">
                <a:solidFill>
                  <a:srgbClr val="000000"/>
                </a:solidFill>
              </a:rPr>
              <a:t>3. 实时数据接入</a:t>
            </a:r>
            <a:endParaRPr lang="en-US" sz="18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7" name="TextBox 7"/>
          <p:cNvSpPr txBox="1"/>
          <p:nvPr/>
        </p:nvSpPr>
        <p:spPr>
          <a:xfrm>
            <a:off x="685800" y="301752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800" dirty="0" err="0" b="0">
                <a:solidFill>
                  <a:srgbClr val="000000"/>
                </a:solidFill>
              </a:rPr>
              <a:t>4. 风险计算引擎</a:t>
            </a:r>
            <a:endParaRPr lang="en-US" sz="18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8" name="TextBox 8"/>
          <p:cNvSpPr txBox="1"/>
          <p:nvPr/>
        </p:nvSpPr>
        <p:spPr>
          <a:xfrm>
            <a:off x="685800" y="356616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800" dirty="0" err="0" b="0">
                <a:solidFill>
                  <a:srgbClr val="000000"/>
                </a:solidFill>
              </a:rPr>
              <a:t>5. 告警与通知机制</a:t>
            </a:r>
            <a:endParaRPr lang="en-US" sz="18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9" name="TextBox 9"/>
          <p:cNvSpPr txBox="1"/>
          <p:nvPr/>
        </p:nvSpPr>
        <p:spPr>
          <a:xfrm>
            <a:off x="685800" y="41148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800" dirty="0" err="0" b="0">
                <a:solidFill>
                  <a:srgbClr val="000000"/>
                </a:solidFill>
              </a:rPr>
              <a:t>6. 技术栈选型</a:t>
            </a:r>
            <a:endParaRPr lang="en-US" sz="18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10" name="TextBox 10"/>
          <p:cNvSpPr txBox="1"/>
          <p:nvPr/>
        </p:nvSpPr>
        <p:spPr>
          <a:xfrm>
            <a:off x="685800" y="466344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800" dirty="0" err="0" b="0">
                <a:solidFill>
                  <a:srgbClr val="000000"/>
                </a:solidFill>
              </a:rPr>
              <a:t>7. 核心挑战与优化</a:t>
            </a:r>
            <a:endParaRPr lang="en-US" sz="18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11" name="TextBox 11"/>
          <p:cNvSpPr txBox="1"/>
          <p:nvPr/>
        </p:nvSpPr>
        <p:spPr>
          <a:xfrm>
            <a:off x="685800" y="521208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800" dirty="0" err="0" b="0">
                <a:solidFill>
                  <a:srgbClr val="000000"/>
                </a:solidFill>
              </a:rPr>
              <a:t>8. 总结与问答</a:t>
            </a:r>
            <a:endParaRPr 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12" name="TextBox 1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800" dirty="0" err="0" b="0">
                <a:solidFill>
                  <a:srgbClr val="1E3A5F"/>
                </a:solidFill>
              </a:rPr>
              <a:t>项目背景与目标</a:t>
            </a:r>
            <a:endParaRPr lang="en-US" sz="28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13" name="TextBox 13"/>
          <p:cNvSpPr txBox="1"/>
          <p:nvPr/>
        </p:nvSpPr>
        <p:spPr>
          <a:xfrm>
            <a:off x="685800" y="13716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加密货币市场波动性大，需要实时风险监控</a:t>
            </a:r>
            <a:endParaRPr lang="en-US" sz="16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14" name="TextBox 14"/>
          <p:cNvSpPr txBox="1"/>
          <p:nvPr/>
        </p:nvSpPr>
        <p:spPr>
          <a:xfrm>
            <a:off x="685800" y="18288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现有手动监控效率低，存在滞后性</a:t>
            </a:r>
            <a:endParaRPr lang="en-US" sz="16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15" name="TextBox 15"/>
          <p:cNvSpPr txBox="1"/>
          <p:nvPr/>
        </p:nvSpPr>
        <p:spPr>
          <a:xfrm>
            <a:off x="685800" y="22860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目标：构建低延迟、高可用的自动化监控系统</a:t>
            </a:r>
            <a:endParaRPr lang="en-US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16" name="TextBox 16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800" dirty="0" err="0" b="0">
                <a:solidFill>
                  <a:srgbClr val="1E3A5F"/>
                </a:solidFill>
              </a:rPr>
              <a:t>系统整体架构</a:t>
            </a:r>
            <a:endParaRPr lang="en-US" sz="28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17" name="TextBox 17"/>
          <p:cNvSpPr txBox="1"/>
          <p:nvPr/>
        </p:nvSpPr>
        <p:spPr>
          <a:xfrm>
            <a:off x="685800" y="13716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采用事件驱动架构，实现模块解耦</a:t>
            </a:r>
            <a:endParaRPr lang="en-US" sz="16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18" name="TextBox 18"/>
          <p:cNvSpPr txBox="1"/>
          <p:nvPr/>
        </p:nvSpPr>
        <p:spPr>
          <a:xfrm>
            <a:off x="685800" y="18288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支持微服务部署，便于水平扩展</a:t>
            </a:r>
            <a:endParaRPr lang="en-US" sz="16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19" name="TextBox 19"/>
          <p:cNvSpPr txBox="1"/>
          <p:nvPr/>
        </p:nvSpPr>
        <p:spPr>
          <a:xfrm>
            <a:off x="685800" y="22860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数据流单向设计，降低循环依赖风险</a:t>
            </a:r>
            <a:endParaRPr lang="en-US" sz="16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20" name="TextBox 20"/>
          <p:cNvSpPr txBox="1"/>
          <p:nvPr/>
        </p:nvSpPr>
        <p:spPr>
          <a:xfrm>
            <a:off x="685800" y="27432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核心链路冗余设计，保障高可用性</a:t>
            </a:r>
            <a:endParaRPr lang="en-US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1" name="TextBox 2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800" dirty="0" err="0" b="0">
                <a:solidFill>
                  <a:srgbClr val="1E3A5F"/>
                </a:solidFill>
              </a:rPr>
              <a:t>实时数据接入</a:t>
            </a:r>
            <a:endParaRPr lang="en-US" sz="28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22" name="TextBox 22"/>
          <p:cNvSpPr txBox="1"/>
          <p:nvPr/>
        </p:nvSpPr>
        <p:spPr>
          <a:xfrm>
            <a:off x="685800" y="13716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基于 WebSocket 对接 Deribit 公开与私有接口</a:t>
            </a:r>
            <a:endParaRPr lang="en-US" sz="16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23" name="TextBox 23"/>
          <p:cNvSpPr txBox="1"/>
          <p:nvPr/>
        </p:nvSpPr>
        <p:spPr>
          <a:xfrm>
            <a:off x="685800" y="18288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实现心跳保活机制，防止连接断开</a:t>
            </a:r>
            <a:endParaRPr lang="en-US" sz="16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24" name="TextBox 24"/>
          <p:cNvSpPr txBox="1"/>
          <p:nvPr/>
        </p:nvSpPr>
        <p:spPr>
          <a:xfrm>
            <a:off x="685800" y="22860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设计异常重连策略，确保数据连续性</a:t>
            </a:r>
            <a:endParaRPr lang="en-US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5" name="TextBox 25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800" dirty="0" err="0" b="0">
                <a:solidFill>
                  <a:srgbClr val="1E3A5F"/>
                </a:solidFill>
              </a:rPr>
              <a:t>风险计算引擎</a:t>
            </a:r>
            <a:endParaRPr lang="en-US" sz="28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26" name="TextBox 26"/>
          <p:cNvSpPr txBox="1"/>
          <p:nvPr/>
        </p:nvSpPr>
        <p:spPr>
          <a:xfrm>
            <a:off x="685800" y="13716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实时计算隐含波动率与 Greeks 指标</a:t>
            </a:r>
            <a:endParaRPr lang="en-US" sz="16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27" name="TextBox 27"/>
          <p:cNvSpPr txBox="1"/>
          <p:nvPr/>
        </p:nvSpPr>
        <p:spPr>
          <a:xfrm>
            <a:off x="685800" y="18288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采用内存计算优化，降低处理延迟</a:t>
            </a:r>
            <a:endParaRPr lang="en-US" sz="16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28" name="TextBox 28"/>
          <p:cNvSpPr txBox="1"/>
          <p:nvPr/>
        </p:nvSpPr>
        <p:spPr>
          <a:xfrm>
            <a:off x="685800" y="22860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支持多维度风险敞口聚合分析</a:t>
            </a:r>
            <a:endParaRPr lang="en-US" sz="16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29" name="TextBox 29"/>
          <p:cNvSpPr txBox="1"/>
          <p:nvPr/>
        </p:nvSpPr>
        <p:spPr>
          <a:xfrm>
            <a:off x="685800" y="27432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确保数值计算精度与一致性</a:t>
            </a:r>
            <a:endParaRPr lang="en-US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30" name="TextBox 30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800" dirty="0" err="0" b="0">
                <a:solidFill>
                  <a:srgbClr val="1E3A5F"/>
                </a:solidFill>
              </a:rPr>
              <a:t>告警与通知机制</a:t>
            </a:r>
            <a:endParaRPr lang="en-US" sz="28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1" name="TextBox 31"/>
          <p:cNvSpPr txBox="1"/>
          <p:nvPr/>
        </p:nvSpPr>
        <p:spPr>
          <a:xfrm>
            <a:off x="685800" y="13716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支持动态阈值配置，适应市场变化</a:t>
            </a:r>
            <a:endParaRPr lang="en-US" sz="16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2" name="TextBox 32"/>
          <p:cNvSpPr txBox="1"/>
          <p:nvPr/>
        </p:nvSpPr>
        <p:spPr>
          <a:xfrm>
            <a:off x="685800" y="18288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集成邮件、短信及即时通讯多渠道通知</a:t>
            </a:r>
            <a:endParaRPr lang="en-US" sz="16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3" name="TextBox 33"/>
          <p:cNvSpPr txBox="1"/>
          <p:nvPr/>
        </p:nvSpPr>
        <p:spPr>
          <a:xfrm>
            <a:off x="685800" y="22860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实现告警抑制与合并，减少噪音干扰</a:t>
            </a:r>
            <a:endParaRPr lang="en-US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34" name="TextBox 34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800" dirty="0" err="0" b="0">
                <a:solidFill>
                  <a:srgbClr val="1E3A5F"/>
                </a:solidFill>
              </a:rPr>
              <a:t>技术栈选型</a:t>
            </a:r>
            <a:endParaRPr lang="en-US" sz="28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5" name="TextBox 35"/>
          <p:cNvSpPr txBox="1"/>
          <p:nvPr/>
        </p:nvSpPr>
        <p:spPr>
          <a:xfrm>
            <a:off x="685800" y="13716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后端服务：Go 语言为主，兼顾性能与开发效率</a:t>
            </a:r>
            <a:endParaRPr lang="en-US" sz="16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6" name="TextBox 36"/>
          <p:cNvSpPr txBox="1"/>
          <p:nvPr/>
        </p:nvSpPr>
        <p:spPr>
          <a:xfrm>
            <a:off x="685800" y="18288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消息队列：Kafka 处理高吞吐数据流</a:t>
            </a:r>
            <a:endParaRPr lang="en-US" sz="16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7" name="TextBox 37"/>
          <p:cNvSpPr txBox="1"/>
          <p:nvPr/>
        </p:nvSpPr>
        <p:spPr>
          <a:xfrm>
            <a:off x="685800" y="22860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缓存存储：Redis 存储实时状态与热点数据</a:t>
            </a:r>
            <a:endParaRPr lang="en-US" sz="16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8" name="TextBox 38"/>
          <p:cNvSpPr txBox="1"/>
          <p:nvPr/>
        </p:nvSpPr>
        <p:spPr>
          <a:xfrm>
            <a:off x="685800" y="27432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监控观测：Prometheus + Grafana 可视化</a:t>
            </a:r>
            <a:endParaRPr lang="en-US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39" name="TextBox 39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800" dirty="0" err="0" b="0">
                <a:solidFill>
                  <a:srgbClr val="1E3A5F"/>
                </a:solidFill>
              </a:rPr>
              <a:t>核心挑战与优化</a:t>
            </a:r>
            <a:endParaRPr lang="en-US" sz="28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0" name="TextBox 40"/>
          <p:cNvSpPr txBox="1"/>
          <p:nvPr/>
        </p:nvSpPr>
        <p:spPr>
          <a:xfrm>
            <a:off x="685800" y="13716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网络抖动处理：本地队列缓冲与重试机制</a:t>
            </a:r>
            <a:endParaRPr lang="en-US" sz="16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1" name="TextBox 41"/>
          <p:cNvSpPr txBox="1"/>
          <p:nvPr/>
        </p:nvSpPr>
        <p:spPr>
          <a:xfrm>
            <a:off x="685800" y="18288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数据乱序问题：基于时间戳的窗口处理</a:t>
            </a:r>
            <a:endParaRPr lang="en-US" sz="16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2" name="TextBox 42"/>
          <p:cNvSpPr txBox="1"/>
          <p:nvPr/>
        </p:nvSpPr>
        <p:spPr>
          <a:xfrm>
            <a:off x="685800" y="22860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高并发瓶颈：异步化处理与连接池优化</a:t>
            </a:r>
            <a:endParaRPr lang="en-US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43" name="TextBox 4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800" dirty="0" err="0" b="0">
                <a:solidFill>
                  <a:srgbClr val="1E3A5F"/>
                </a:solidFill>
              </a:rPr>
              <a:t>总结与问答</a:t>
            </a:r>
            <a:endParaRPr lang="en-US" sz="28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4" name="TextBox 44"/>
          <p:cNvSpPr txBox="1"/>
          <p:nvPr/>
        </p:nvSpPr>
        <p:spPr>
          <a:xfrm>
            <a:off x="685800" y="13716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系统已稳定运行，有效降低风险敞口</a:t>
            </a:r>
            <a:endParaRPr lang="en-US" sz="16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5" name="TextBox 45"/>
          <p:cNvSpPr txBox="1"/>
          <p:nvPr/>
        </p:nvSpPr>
        <p:spPr>
          <a:xfrm>
            <a:off x="685800" y="18288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后续计划：引入机器学习预测波动</a:t>
            </a:r>
            <a:endParaRPr lang="en-US" sz="1600"/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6" name="TextBox 46"/>
          <p:cNvSpPr txBox="1"/>
          <p:nvPr/>
        </p:nvSpPr>
        <p:spPr>
          <a:xfrm>
            <a:off x="685800" y="2286000"/>
            <a:ext cx="7772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err="0" b="0">
                <a:solidFill>
                  <a:srgbClr val="000000"/>
                </a:solidFill>
              </a:rPr>
              <a:t>• 欢迎技术团队提问与交流</a:t>
            </a:r>
            <a:endParaRPr lang="en-US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